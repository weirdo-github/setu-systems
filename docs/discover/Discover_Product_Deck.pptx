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3073eb73779492d" /><Relationship Type="http://schemas.openxmlformats.org/officeDocument/2006/relationships/extended-properties" Target="/docProps/app.xml" Id="Rc36d2a146a334761" /><Relationship Type="http://schemas.openxmlformats.org/officeDocument/2006/relationships/officeDocument" Target="/ppt/presentation.xml" Id="R308b5ce5c9774d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307379adbb446d"/>
  </p:sldMasterIdLst>
  <p:notesMasterIdLst>
    <p:notesMasterId xmlns:r="http://schemas.openxmlformats.org/officeDocument/2006/relationships" r:id="Rea7b4d3c5e7d46df"/>
  </p:notesMasterIdLst>
  <p:sldIdLst>
    <p:sldId xmlns:r="http://schemas.openxmlformats.org/officeDocument/2006/relationships" id="256" r:id="R1fdaba53630742e6"/>
    <p:sldId xmlns:r="http://schemas.openxmlformats.org/officeDocument/2006/relationships" id="257" r:id="R21b70ad7a6014987"/>
    <p:sldId xmlns:r="http://schemas.openxmlformats.org/officeDocument/2006/relationships" id="258" r:id="R01307dad0fd64447"/>
    <p:sldId xmlns:r="http://schemas.openxmlformats.org/officeDocument/2006/relationships" id="259" r:id="R79d2c27c4a9d4da1"/>
    <p:sldId xmlns:r="http://schemas.openxmlformats.org/officeDocument/2006/relationships" id="260" r:id="R58de22a4fc024473"/>
    <p:sldId xmlns:r="http://schemas.openxmlformats.org/officeDocument/2006/relationships" id="261" r:id="R8894c2b817644d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2b4372aa044df2" /><Relationship Type="http://schemas.openxmlformats.org/officeDocument/2006/relationships/slideMaster" Target="/ppt/slideMasters/slideMaster1.xml" Id="R0a307379adbb446d" /><Relationship Type="http://schemas.openxmlformats.org/officeDocument/2006/relationships/notesMaster" Target="/ppt/notesMasters/notesMaster1.xml" Id="Rea7b4d3c5e7d46df" /><Relationship Type="http://schemas.openxmlformats.org/officeDocument/2006/relationships/presProps" Target="/ppt/presProps.xml" Id="Re39e7f9ecfa14b3b" /><Relationship Type="http://schemas.openxmlformats.org/officeDocument/2006/relationships/viewProps" Target="/ppt/viewProps.xml" Id="Rfb9a40c727074363" /><Relationship Type="http://schemas.openxmlformats.org/officeDocument/2006/relationships/tableStyles" Target="/ppt/tableStyles.xml" Id="R3c7801a7865f4321" /><Relationship Type="http://schemas.openxmlformats.org/officeDocument/2006/relationships/slide" Target="/ppt/slides/slide1.xml" Id="R1fdaba53630742e6" /><Relationship Type="http://schemas.openxmlformats.org/officeDocument/2006/relationships/slide" Target="/ppt/slides/slide2.xml" Id="R21b70ad7a6014987" /><Relationship Type="http://schemas.openxmlformats.org/officeDocument/2006/relationships/slide" Target="/ppt/slides/slide3.xml" Id="R01307dad0fd64447" /><Relationship Type="http://schemas.openxmlformats.org/officeDocument/2006/relationships/slide" Target="/ppt/slides/slide4.xml" Id="R79d2c27c4a9d4da1" /><Relationship Type="http://schemas.openxmlformats.org/officeDocument/2006/relationships/slide" Target="/ppt/slides/slide5.xml" Id="R58de22a4fc024473" /><Relationship Type="http://schemas.openxmlformats.org/officeDocument/2006/relationships/slide" Target="/ppt/slides/slide6.xml" Id="R8894c2b817644d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16c2f9483545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7b5bb7d5594d28" /><Relationship Type="http://schemas.openxmlformats.org/officeDocument/2006/relationships/notesMaster" Target="/ppt/notesMasters/notesMaster1.xml" Id="R2a2476d6040149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427beb706946ec" /><Relationship Type="http://schemas.openxmlformats.org/officeDocument/2006/relationships/notesMaster" Target="/ppt/notesMasters/notesMaster1.xml" Id="R7663785ea5a149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e10c4831364175" /><Relationship Type="http://schemas.openxmlformats.org/officeDocument/2006/relationships/notesMaster" Target="/ppt/notesMasters/notesMaster1.xml" Id="Rb3874686195b42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c4a62c66984646" /><Relationship Type="http://schemas.openxmlformats.org/officeDocument/2006/relationships/notesMaster" Target="/ppt/notesMasters/notesMaster1.xml" Id="Rc3de38dd8d674c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f2a4e4d7168495b" /><Relationship Type="http://schemas.openxmlformats.org/officeDocument/2006/relationships/notesMaster" Target="/ppt/notesMasters/notesMaster1.xml" Id="R191d1ad01b5c49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cd14543bd042c3" /><Relationship Type="http://schemas.openxmlformats.org/officeDocument/2006/relationships/notesMaster" Target="/ppt/notesMasters/notesMaster1.xml" Id="R858a829e2f5a4a5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5c4946d7e94b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103fac9b4f48ec" /><Relationship Type="http://schemas.openxmlformats.org/officeDocument/2006/relationships/slideLayout" Target="/ppt/slideLayouts/slideLayout1.xml" Id="Reb54b8e5bc3a4f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54b8e5bc3a4f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e60214e4542bb" /><Relationship Type="http://schemas.openxmlformats.org/officeDocument/2006/relationships/notesSlide" Target="/ppt/notesSlides/notesSlide1.xml" Id="R16a4f068464947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fddbb6b173428f" /><Relationship Type="http://schemas.openxmlformats.org/officeDocument/2006/relationships/notesSlide" Target="/ppt/notesSlides/notesSlide2.xml" Id="R6765c97ffeda49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54b7ac8fe4651" /><Relationship Type="http://schemas.openxmlformats.org/officeDocument/2006/relationships/notesSlide" Target="/ppt/notesSlides/notesSlide3.xml" Id="R43e29adbb50a4d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a2d1df6a9a41b6" /><Relationship Type="http://schemas.openxmlformats.org/officeDocument/2006/relationships/notesSlide" Target="/ppt/notesSlides/notesSlide4.xml" Id="Rc21ed79185224f0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040ca8449242bf" /><Relationship Type="http://schemas.openxmlformats.org/officeDocument/2006/relationships/notesSlide" Target="/ppt/notesSlides/notesSlide5.xml" Id="Rbf104c2ddc6c4d4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022b9ff8842bc" /><Relationship Type="http://schemas.openxmlformats.org/officeDocument/2006/relationships/notesSlide" Target="/ppt/notesSlides/notesSlide6.xml" Id="R1cf1f5f20b724b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B2FBB3-7FD7-4A26-BA10-2EBA30C2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FB1FCE-C8FA-41D1-982A-7EA9DBD3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1E14A-32DA-47CD-812C-161E67CC7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RELEASE STATE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348646-44B2-4618-84A6-66891A33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rPr>
              <a:t>SETU Discover Opportunity Studio is focused on inventory, matching, and controlled sends.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AE87D-7107-4A49-A5D5-C6B6D4D56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The current build removes the standalone Intelligence workspace and keeps the operating path tight: source registry, daily refresh, review queue, Match &amp; Send, and email logging.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375CA-AA58-46FE-875E-8DFA1E61E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CB275-27C4-4565-AA09-68C8AFD28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B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7BC173-29DD-4BDF-ACFA-65607E0E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D5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6D5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ABAC7-92B3-45D2-9A00-D4C27C2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384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Admin sections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556FF7-DC02-4435-9658-54FC1A68D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57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No Intelligence tab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D5AB-C09C-4EA5-AF65-F176B356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47650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02E28-C775-40C9-8A83-809F3749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47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9F6BFA-DC22-42B1-A8E6-79E1AE23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384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Source records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610F06-E81C-4D33-AC7B-20F87D8D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57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Workbook-backed 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91B2E3-8E6C-4654-971B-3D812FF6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7650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D6E238-9C7E-44F1-B4FA-5E39F85F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8D3A9-A45E-4985-A532-FDBBA5C0D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384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Push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B71E82-040F-4060-BBBD-FE3814E3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57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Finance status only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66FAD3-408B-4FE3-BB9E-E308D201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1378F-562A-4A88-A7A1-E7F29190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55C6AC-11D8-44C9-9C7D-C314D85B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3847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Evidence exports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3C29E-AEAF-4640-BB51-B2CB0BC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25755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Removed endpoints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589AA-EB98-4BA3-8E85-030096EC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28575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FE7C3-15DC-4755-A0BE-F5C0D518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47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94862-9BA3-457A-9B97-F1628000B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14600"/>
            <a:ext cx="2514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Current promise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803C13-71A1-4873-B045-9E8DD65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25146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operators can qualify sources, maintain active opportunities, match clients, and send recommendations only when Finance confirms fresh active engagement.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4D10CD-5092-49CE-B33F-C0AB0725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7EC0D1-7B80-457E-90A1-B32693A4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Current release handoff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B37D74-B6CF-43F7-918A-53F0375F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460461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150ADD-7514-4F1B-AAD8-4D5D34D7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E2284-4C01-438C-A94E-B86A69AC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C10AE-A474-4D84-BB9A-E5179EBC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PORTAL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252F4-4DE5-4838-A22D-125CC8EE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rPr>
              <a:t>The app now has one clear operations spine.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E2864-80C8-479E-8DC1-4707591E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Every supported section has a direct route and a role in the daily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9D5286-14BF-4DAC-9C83-EAE264B2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DCE463-52A9-4490-85B1-2B79D65D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71825"/>
            <a:ext cx="847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742834-4CFE-4611-9FF8-309D498B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B"/>
          </a:solidFill>
          <a:ln xmlns:a="http://schemas.openxmlformats.org/drawingml/2006/main" w="9525">
            <a:solidFill>
              <a:srgbClr val="246D5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E953A7-9DE3-4547-89FD-DEEE672B8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6D5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D5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A00EB0-677E-437B-8EF9-1F986A6C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909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6C9DB-6E0F-437B-A6D4-153224A0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76675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Active inventory metrics, category coverage, client demand, refresh health.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74C22-C656-4B9C-AFA5-BD9AD63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6E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76CF7-7C75-41AE-A948-42DB6412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481094-E39F-4E40-8AA2-462CA0FA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909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Inventory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4E2BB9-3C53-497C-B2D6-55376D98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76675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Opportunity records, EB-1A category filters, added dates, source/apply links.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5028C-79AF-45F3-928C-B48C36CC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6E1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2508F-B11A-4C28-9EF6-6ED3496F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0017A-C443-493C-A3BA-C1367261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5909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Clients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8CF400-200F-4CCB-BE67-ECEDBA07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876675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Client profiles, criteria targets, keywords, Finance engagement badges.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73F15D-653B-472C-85BA-BE2D9077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FF3EB"/>
          </a:solidFill>
          <a:ln xmlns:a="http://schemas.openxmlformats.org/drawingml/2006/main" w="9525">
            <a:solidFill>
              <a:srgbClr val="246D5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599B5E-3149-472B-AE6C-A86FCF1E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46D5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D5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401D41-ADC9-4E96-97E3-EB84642F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5909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Match &amp; Send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389BE5-075A-41F2-AF1A-2562EEC3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876675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Client search, ranked matches, manual opportunity search, gated email send.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037FC3-25D6-4547-85CD-24D2EA53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6E1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27CE31-D32E-45AB-99A8-B6BFAD02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740D8-B2E1-4FBA-B594-9C406643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909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Review Queue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288E70B-FAF7-42F8-B01F-44CA7936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76675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Human disposition before low-confidence records become active.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9B953-687A-4191-AFB7-AE6A931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000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6E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E6614F-A725-417D-950B-087D9654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95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13EC7C-F9CA-4BDC-9698-F813C7AA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90925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Email 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9693BD-980D-4750-95B3-F255388E5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76675"/>
            <a:ext cx="13525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Outbound attempts recorded against clients and opportunities.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267701-2718-4D32-B7D6-9C018BE45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D27188-5C83-444B-A4EF-6284979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Current release handoff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A586F5-A9D3-4136-BE88-BDD3B38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910159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B271D5-F9CD-43AF-B720-12CF25F3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765DA-B594-481F-B9AF-7F6A9221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693C4-6790-457F-99E1-4C411130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08862-F137-409C-BDD9-22A88AB4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rPr>
              <a:t>Source quality is enforced before anything becomes active inventory.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CFB541-C3EA-47BE-9C19-10455CA9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Daily Refresh checks canonical source pages, Review Queue handles uncertainty, and active inventory requires client-facing source/apply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201EA-67C6-4B3F-8C56-1A3319B8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3CA03-8583-4BA1-BC5C-5B2D94B3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8B249-9403-458C-BF23-7348F1B1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24D9BB-AF66-4F74-9AA4-ED188FE6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Canonical registry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F167F-E722-4ED5-82A0-B6DA16481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133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Official source domains, predefined categories, EB-1A applicability tags, seed URLs, status, and refresh flags.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D0772A-FD1F-4781-ABDC-29BC27DFF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669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004278-C8C0-44B4-8D11-4A387B77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669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8264C0-1FE7-4EC5-8EA9-3D1A6608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4193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Daily refresh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1FEEB6-645D-4159-9BBA-DA4D32565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781300"/>
            <a:ext cx="2133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Guarded fetch, content hashes, changed-page extraction, run reports, and skipped unchanged pages.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6E9B4C-6334-44E7-8301-DB650550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7CFDC-B7A0-4F19-B3A6-70D24F05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25035F-1930-430E-9E58-2D3FCCCF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4193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9614F-05C7-48F7-A1CC-20B8827D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81300"/>
            <a:ext cx="2133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Low confidence, weak links, broad pages, and policy concerns are routed to disposition.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564DC1-2327-4714-9C7C-CF1418DF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2476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AA01A5-D7FF-464D-ABA8-8A2F9E145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6695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E41B09-6F35-4E3E-AF44-4C9745B8A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2133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Inventory publish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519EAD-932C-4E62-8419-01674FE2D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81300"/>
            <a:ext cx="213360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A record must have a public, reachable source/apply link on the canonical domain to become active.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0B97B0-EDC1-43BD-8319-47A96D62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33900"/>
            <a:ext cx="10706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840564-AB53-493A-9587-1509516E0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962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Guardrail: broad source pages, aggregators, missing apply paths, and low-credibility pay-to-play signals do not silently publish.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DA386B-69E1-4811-9E8C-853156EE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6D5B40-DCEC-48D1-B26F-41526B6D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Current release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597E29-3770-4C10-A38C-C32D16F2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545926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0F1B28-11B1-4C9D-BBC8-7092C870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51ED59-6C57-4DB2-BD5D-09ED909C0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C93A4-3273-4287-BAD6-FDD58E98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MATCH &amp; SEND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DC386-EC87-47CF-AF81-9920275B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rPr>
              <a:t>Admins can use ranked matching or manually search for a specific opportunity.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19CA3A-30F9-408F-9161-153B80DA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Both paths route through the same Finance engagement guard before any push is logged.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B2879C-2B62-47E1-9FA7-8006B676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BBEF4-2C77-4FD0-837C-48D3529E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3143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8E7D06-61EE-4A70-8C07-74875D1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4790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7E34DC-339D-434E-A4AC-2BD5395C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Client search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2C6607-1710-4F62-8083-A42F758A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62250"/>
            <a:ext cx="2800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Find by name, email, field, location, or keyword. Engagement badge stays visible before send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C9821A-4FCA-45AD-A7CA-F579BDB1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3143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1D2189-1341-45E0-9FD9-44BA2E03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318F3A-42A1-456C-A57D-6EF42C47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Ranked queue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7AEC2-8029-4818-A826-30CF863F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62250"/>
            <a:ext cx="2800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Criteria gap, credibility, keyword fit, semantic similarity, actionability, location, and preferred category boost.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10E2C2-6DEE-4A2C-AD59-BC669BCE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3143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2DC034-D342-44A3-98D6-87BAC90D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247900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78821-8FE7-4651-99ED-6950E02B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400300"/>
            <a:ext cx="2800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Manual opportunity search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0A7777-5CEB-4F2C-B271-80AC1EDA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62250"/>
            <a:ext cx="2800350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Search active inventory directly and email a selected record through the same checked compose flow.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A0282-88D7-48C9-A7EB-9135A971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5529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3EB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43C16A-43AD-4905-A5ED-57EFB68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7244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6D5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46D53"/>
                </a:solidFill>
                <a:latin typeface="Aptos"/>
                <a:ea typeface="Aptos"/>
                <a:cs typeface="Aptos"/>
              </a:rPr>
              <a:t>fresh active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FB5FDF-C184-444A-BB6C-B4584231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114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Allowed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A0166-9ECA-4FFE-B3E2-3E811FACC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334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Email send can proceed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0FAA98-A9C8-4E17-97BF-D12A8F296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5529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796155-6FD6-47FB-A8F2-FAD2B763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7244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dormant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8FA95B-C2A5-4AE5-9260-7A26A933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114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B63198-63DF-48F2-9167-AA2D1A34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34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No new outreach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A712D3-F65B-4EFC-BFEF-3920241B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5ED466-F417-498C-92BC-AACCE2E9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244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inactive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984E23C-1FD4-437E-8880-26F1BA160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114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D6E89B-8EA8-4EC2-AE4B-2323A786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34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No new outreach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0236D-84E2-42C6-BC48-0C6C4D32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552950"/>
            <a:ext cx="16954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1F2598-8A13-4A16-BFDD-D57D8A6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24400"/>
            <a:ext cx="133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stale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79019-F85E-4053-9D6A-91E69233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114925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6B328-E107-463D-A4E2-44DA52B43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3340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Status older than 24h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8256F2-6218-4CB2-8659-736C187A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95A05A-D4C6-4111-A0E3-ADA305C76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Current release handoff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1E20AA-8C4C-42A8-ADE8-4D8C02A2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82066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E4B7C6-B02F-4B3B-8A66-BA882A3C9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84E23-E1DC-49AC-90EF-BF205843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96D08C-E85A-4044-908B-3F9BA853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REMOVED SURFACES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E0997-D040-48FC-A6EE-E5DCFE9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rPr>
              <a:t>The Intelligence section and its backend dependencies are gone.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1C1F-1294-437E-9771-2E1A10F04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This release intentionally removes surfaces that looked like a customer portal or downstream evidence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FFB93-B2C6-4C23-800C-100809D2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1D68EA-DB6E-4165-89C5-FF8EBC0C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8A342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E244D9-F050-4582-A785-26F5158B8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2AA6E7-1218-45CE-8F3B-85EBBA05D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145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No sidebar tab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128A15-4CF5-4BAC-895A-83E7F715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003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Intelligence is not visible in navigation or direct-route mapping.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BC9597-1445-4B2E-9C24-ACF45CD2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8A342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DA013-536C-40B2-B07C-1EE07183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7FCAC3-8BC5-4367-A1E3-6AA3E536C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003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No Phase 4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AD052-3F49-4D24-B959-49DB46B5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861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`/api/phase4` is not shipped.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C4426-17B0-4EEC-9271-1274F098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8A34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DF8F2-1DBD-4CF0-8902-B6D0A6C1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E5E07-8FF6-484F-A9FF-643E74E52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861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No evidence exports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7E3348-4CE7-4D66-A0E5-AC2EC4DD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719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`/api/exports/evidence` and `/api/exports/setu` are not shipped.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4213EE-F89E-41D9-ACC3-6C2B6DB7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8A34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CDABC7-4F67-462D-B2C5-FA517E2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0D4F87-6C1D-4455-A272-318F33FF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71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No curator bank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02B144-8884-46EA-96EB-A16515C8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4577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`data/curator-candidates.json` and proposal code are removed.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DEEC69-EE76-46A1-ADDF-0AB0F177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768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DEDB"/>
          </a:solidFill>
          <a:ln xmlns:a="http://schemas.openxmlformats.org/drawingml/2006/main" w="9525">
            <a:solidFill>
              <a:srgbClr val="8A34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657291-F4EB-4B34-B1AB-53FB77FB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A34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A342C"/>
                </a:solidFill>
                <a:latin typeface="Aptos"/>
                <a:ea typeface="Aptos"/>
                <a:cs typeface="Aptos"/>
              </a:rPr>
              <a:t>x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D6CA9C-BB82-4038-8DE5-858554616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577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No customer portal preview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4E2BA-4CB7-48BA-8C0F-228BB76CC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14350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Discover remains an internal admin/team portal.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DBD2C6-78D0-40E4-82E6-DEF2362B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22669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62D0A7-60FE-4F5E-A43E-026CF4F7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57450"/>
            <a:ext cx="47625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9DC64D-2FA3-43BB-8B3D-4610A03D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09850"/>
            <a:ext cx="1924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What remains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BEE5ED-8383-4A4F-B9C1-9F52566F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71800"/>
            <a:ext cx="19240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Overview, Inventory, Clients, Match &amp; Send, Email Log, Source Registry, Daily Refresh, and Review Queue.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0B6C876-1C05-4683-ABEE-24033547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054570-8557-475D-8EC2-019E957D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Current release handoff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758372-61B2-448F-BAB2-3FD3A50C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070975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21121-9410-467A-A1F6-4421C6FD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5019B1-44C2-480A-9ABD-6FAF0660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9F53D-D5DC-449E-AAF3-D9DEF96C9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5275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46E1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46E14"/>
                </a:solidFill>
                <a:latin typeface="Aptos"/>
                <a:ea typeface="Aptos"/>
                <a:cs typeface="Aptos"/>
              </a:rPr>
              <a:t>READINESS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B526AC-3FA5-4017-991D-DEB3A905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7239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E1E22"/>
                </a:solidFill>
                <a:latin typeface="Aptos Display"/>
                <a:ea typeface="Aptos Display"/>
                <a:cs typeface="Aptos Display"/>
              </a:rPr>
              <a:t>The handoff package is code, docs, deck, and local smoke checks.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DEA824-C28A-4DE5-936D-3C11FDC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Keep the local app and Postgres running for review, then use the GitHub repo as the source of truth.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999043-4AC5-4433-BB64-605C764E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81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SETU Discover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325C5-6920-4DF0-B9D0-8E57DADB2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21E96-9C74-41BD-AE64-0D9E3410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288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E6937-E3E6-420F-B599-A142E97C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Local endpoints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F63E63-41D2-4930-B361-CDEF68F1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2228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http://localhost:3004</a:t>
            </a:r>
          </a:p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Postgres on localhost:5435</a:t>
            </a:r>
          </a:p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Admin demo login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7EA7-F5EE-47E8-927A-9683AADE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53917-1CFC-4230-9419-359B34F2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288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042B7-8AFF-4A1B-AB8F-A03BD728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381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Verification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6269E1-9DE4-4513-B334-366AA2D3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43200"/>
            <a:ext cx="2228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npm run lint</a:t>
            </a:r>
          </a:p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npm run build</a:t>
            </a:r>
          </a:p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Route smoke across supported sections.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9E9FCF-E27D-4B79-8DF2-60F227E04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25717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ADD49-0563-4128-BE95-E955D944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2288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E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6E78F5-4BCF-41F9-9B27-21943AA6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2228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20CBB3-A6F5-4CB4-8DCC-115E7ECC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43200"/>
            <a:ext cx="2228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README, release readiness, functional/nonfunctional docs, architecture, Finance integration, product deck.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DDFC71-A6A4-4C13-A6FB-2F62C719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1981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8EFEA4-CA6C-493D-9142-A886C978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28850"/>
            <a:ext cx="47625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D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7A975F-7DB0-4AC2-9A58-A897C799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1638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E5C6B4-3CB3-461F-BC28-C4EBC5F4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43200"/>
            <a:ext cx="1638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dlk710/setu-discover</a:t>
            </a:r>
          </a:p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main branch</a:t>
            </a:r>
          </a:p>
          <a:p xmlns:a="http://schemas.openxmlformats.org/drawingml/2006/main">
            <a:pPr algn="l">
              <a:defRPr sz="975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ready for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A8C54-DE1B-4D78-B66D-1DC21BF6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76750"/>
            <a:ext cx="1066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DE5"/>
          </a:solidFill>
          <a:ln xmlns:a="http://schemas.openxmlformats.org/drawingml/2006/main" w="9525">
            <a:solidFill>
              <a:srgbClr val="DED8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999F60-5B4D-4810-84B5-AD113EB9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95825"/>
            <a:ext cx="9620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E1E22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1E22"/>
                </a:solidFill>
                <a:latin typeface="Aptos"/>
                <a:ea typeface="Aptos"/>
                <a:cs typeface="Aptos"/>
              </a:rPr>
              <a:t>Acceptance check: supported pages return 200, removed Intelligence endpoints return 404, authenticated state and matches APIs remain healthy.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52EC38-9C44-46E1-8A05-F01772A6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627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8C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589C8E-EBD9-438A-B0D5-F11207CF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Current release handoff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5E593-83D4-45B4-946B-A602373D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77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362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362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60829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2026-06-07T20:30:08.8850000Z</dcterms:created>
  <dcterms:modified xsi:type="dcterms:W3CDTF">2026-06-07T20:30:08.8850000Z</dcterms:modified>
</coreProperties>
</file>